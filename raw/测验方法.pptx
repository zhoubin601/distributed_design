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2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 autoAdjust="0"/>
    <p:restoredTop sz="94660"/>
  </p:normalViewPr>
  <p:slideViewPr>
    <p:cSldViewPr>
      <p:cViewPr varScale="1">
        <p:scale>
          <a:sx n="73" d="100"/>
          <a:sy n="73" d="100"/>
        </p:scale>
        <p:origin x="3079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4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381000" y="1371600"/>
            <a:ext cx="8421624" cy="514807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9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0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70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17463" y="6705600"/>
            <a:ext cx="9121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700">
                <a:solidFill>
                  <a:srgbClr val="000000"/>
                </a:solidFill>
              </a:rPr>
              <a:t>Tanenbaum &amp; Van Steen, Distributed Systems: Principles and Paradigms, 2e, (c) 2007 Prentice-Hall, Inc. All rights reserved . ISBN 0-13-239227-5. Modified by Jie Song, Northeastern University, China, 2014</a:t>
            </a:r>
            <a:endParaRPr lang="zh-CN" altLang="en-US" sz="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524000"/>
            <a:ext cx="4494213" cy="5029200"/>
          </a:xfrm>
        </p:spPr>
        <p:txBody>
          <a:bodyPr/>
          <a:lstStyle>
            <a:lvl1pPr>
              <a:defRPr sz="2800"/>
            </a:lvl1pPr>
            <a:lvl2pPr>
              <a:defRPr lang="en-US" altLang="zh-CN" sz="24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2pPr>
            <a:lvl3pPr marL="1257300" indent="-34290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3pPr>
            <a:lvl4pPr marL="16573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4pPr>
            <a:lvl5pPr marL="21145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zh-CN" altLang="en-US" sz="2000" dirty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0"/>
          </p:nvPr>
        </p:nvSpPr>
        <p:spPr>
          <a:xfrm>
            <a:off x="0" y="1524000"/>
            <a:ext cx="4494213" cy="5029200"/>
          </a:xfrm>
        </p:spPr>
        <p:txBody>
          <a:bodyPr/>
          <a:lstStyle>
            <a:lvl1pPr>
              <a:defRPr sz="2800"/>
            </a:lvl1pPr>
            <a:lvl2pPr>
              <a:defRPr lang="en-US" altLang="zh-CN" sz="24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2pPr>
            <a:lvl3pPr marL="1257300" indent="-34290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3pPr>
            <a:lvl4pPr marL="16573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4pPr>
            <a:lvl5pPr marL="21145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zh-CN" altLang="en-US" sz="2000" dirty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49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39238" cy="1138238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685800" y="6248400"/>
            <a:ext cx="1900238" cy="4524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0" y="6597650"/>
            <a:ext cx="9139238" cy="6413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6553200" y="6248400"/>
            <a:ext cx="1900238" cy="4524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fld id="{4F676B7B-36A7-49C7-8E29-F6351ED8A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940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4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1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17463" y="6705600"/>
            <a:ext cx="9121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700">
                <a:solidFill>
                  <a:srgbClr val="000000"/>
                </a:solidFill>
              </a:rPr>
              <a:t>Tanenbaum &amp; Van Steen, Distributed Systems: Principles and Paradigms, 2e, (c) 2007 Prentice-Hall, Inc. All rights reserved . ISBN 0-13-239227-5. Modified by Jie Song, Northeastern University, China, 2014</a:t>
            </a:r>
            <a:endParaRPr lang="zh-CN" altLang="en-US" sz="70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524000"/>
            <a:ext cx="4494213" cy="5029200"/>
          </a:xfrm>
        </p:spPr>
        <p:txBody>
          <a:bodyPr/>
          <a:lstStyle>
            <a:lvl1pPr>
              <a:defRPr sz="2800"/>
            </a:lvl1pPr>
            <a:lvl2pPr>
              <a:defRPr lang="en-US" altLang="zh-CN" sz="24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2pPr>
            <a:lvl3pPr marL="1257300" indent="-34290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3pPr>
            <a:lvl4pPr marL="16573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4pPr>
            <a:lvl5pPr marL="21145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zh-CN" altLang="en-US" sz="2000" dirty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0"/>
          </p:nvPr>
        </p:nvSpPr>
        <p:spPr>
          <a:xfrm>
            <a:off x="0" y="1524000"/>
            <a:ext cx="4494213" cy="5029200"/>
          </a:xfrm>
        </p:spPr>
        <p:txBody>
          <a:bodyPr/>
          <a:lstStyle>
            <a:lvl1pPr>
              <a:defRPr sz="2800"/>
            </a:lvl1pPr>
            <a:lvl2pPr>
              <a:defRPr lang="en-US" altLang="zh-CN" sz="24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2pPr>
            <a:lvl3pPr marL="1257300" indent="-34290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3pPr>
            <a:lvl4pPr marL="16573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en-US" altLang="zh-CN" sz="2000" dirty="0" smtClean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4pPr>
            <a:lvl5pPr marL="2114550" indent="-285750" algn="l" defTabSz="457200" rtl="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 lang="zh-CN" altLang="en-US" sz="2000" dirty="0">
                <a:solidFill>
                  <a:srgbClr val="000000"/>
                </a:solidFill>
                <a:latin typeface="Arial Unicode MS" pitchFamily="32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98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7463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421688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28" name="Rectangle 6"/>
          <p:cNvSpPr>
            <a:spLocks noChangeArrowheads="1"/>
          </p:cNvSpPr>
          <p:nvPr userDrawn="1"/>
        </p:nvSpPr>
        <p:spPr bwMode="auto">
          <a:xfrm>
            <a:off x="17463" y="6705600"/>
            <a:ext cx="9121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700">
                <a:solidFill>
                  <a:srgbClr val="000000"/>
                </a:solidFill>
              </a:rPr>
              <a:t>Tanenbaum &amp; Van Steen, Distributed Systems: Principles and Paradigms, 2e, (c) 2007 Prentice-Hall, Inc. All rights reserved . ISBN 0-13-239227-5. Modified by Jie Song, Northeastern University, China, 2014</a:t>
            </a:r>
            <a:endParaRPr lang="zh-CN" altLang="en-US" sz="700"/>
          </a:p>
        </p:txBody>
      </p:sp>
    </p:spTree>
    <p:extLst>
      <p:ext uri="{BB962C8B-B14F-4D97-AF65-F5344CB8AC3E}">
        <p14:creationId xmlns:p14="http://schemas.microsoft.com/office/powerpoint/2010/main" val="266690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zh-CN" altLang="en-US" sz="4200" kern="1200" dirty="0">
          <a:solidFill>
            <a:srgbClr val="FF0000"/>
          </a:solidFill>
          <a:latin typeface="Arial" charset="0"/>
          <a:ea typeface="宋体" charset="-122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FF0000"/>
          </a:solidFill>
          <a:latin typeface="Arial" charset="0"/>
          <a:ea typeface="宋体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FF0000"/>
          </a:solidFill>
          <a:latin typeface="Arial" charset="0"/>
          <a:ea typeface="宋体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FF0000"/>
          </a:solidFill>
          <a:latin typeface="Arial" charset="0"/>
          <a:ea typeface="宋体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FF0000"/>
          </a:solidFill>
          <a:latin typeface="Arial" charset="0"/>
          <a:ea typeface="宋体" charset="-122"/>
        </a:defRPr>
      </a:lvl5pPr>
      <a:lvl6pPr marL="457200" algn="ctr" defTabSz="457200" rtl="0" fontAlgn="base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FF0000"/>
          </a:solidFill>
          <a:latin typeface="Arial" charset="0"/>
          <a:ea typeface="宋体" charset="-122"/>
        </a:defRPr>
      </a:lvl6pPr>
      <a:lvl7pPr marL="914400" algn="ctr" defTabSz="457200" rtl="0" fontAlgn="base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FF0000"/>
          </a:solidFill>
          <a:latin typeface="Arial" charset="0"/>
          <a:ea typeface="宋体" charset="-122"/>
        </a:defRPr>
      </a:lvl7pPr>
      <a:lvl8pPr marL="1371600" algn="ctr" defTabSz="457200" rtl="0" fontAlgn="base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FF0000"/>
          </a:solidFill>
          <a:latin typeface="Arial" charset="0"/>
          <a:ea typeface="宋体" charset="-122"/>
        </a:defRPr>
      </a:lvl8pPr>
      <a:lvl9pPr marL="1828800" algn="ctr" defTabSz="457200" rtl="0" fontAlgn="base">
        <a:spcBef>
          <a:spcPct val="0"/>
        </a:spcBef>
        <a:spcAft>
          <a:spcPct val="0"/>
        </a:spcAft>
        <a:buSzPct val="100000"/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FF0000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分布式系统导论</a:t>
            </a:r>
            <a:br>
              <a:rPr lang="en-US" altLang="zh-CN" dirty="0"/>
            </a:br>
            <a:r>
              <a:rPr lang="zh-CN" altLang="en-US" dirty="0"/>
              <a:t>大作业要求</a:t>
            </a:r>
          </a:p>
        </p:txBody>
      </p:sp>
    </p:spTree>
    <p:extLst>
      <p:ext uri="{BB962C8B-B14F-4D97-AF65-F5344CB8AC3E}">
        <p14:creationId xmlns:p14="http://schemas.microsoft.com/office/powerpoint/2010/main" val="1519185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000" y="1066800"/>
            <a:ext cx="8421624" cy="5452872"/>
          </a:xfrm>
        </p:spPr>
        <p:txBody>
          <a:bodyPr/>
          <a:lstStyle/>
          <a:p>
            <a:r>
              <a:rPr lang="zh-CN" altLang="en-US" dirty="0"/>
              <a:t>对一个分布式系统进行概要设计，要清晰说明技术需求，利用所学知识给出设计方法；</a:t>
            </a:r>
            <a:endParaRPr lang="en-US" altLang="zh-CN" dirty="0"/>
          </a:p>
          <a:p>
            <a:r>
              <a:rPr lang="zh-CN" altLang="en-US" dirty="0"/>
              <a:t>具体要求参见模板；</a:t>
            </a:r>
            <a:r>
              <a:rPr lang="zh-CN" altLang="en-US" dirty="0">
                <a:solidFill>
                  <a:srgbClr val="FF0000"/>
                </a:solidFill>
              </a:rPr>
              <a:t>不要照着书抄；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受限于以下系统：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：直播购物平台，如抖音、拼多多；注意，</a:t>
            </a:r>
            <a:r>
              <a:rPr lang="zh-CN" altLang="en-US" dirty="0">
                <a:solidFill>
                  <a:srgbClr val="FF0000"/>
                </a:solidFill>
              </a:rPr>
              <a:t>满足</a:t>
            </a: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直播带货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下单购物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：线上约车平台，如滴滴、百度地图</a:t>
            </a:r>
            <a:r>
              <a:rPr lang="en-US" altLang="zh-CN" dirty="0"/>
              <a:t>(</a:t>
            </a:r>
            <a:r>
              <a:rPr lang="zh-CN" altLang="en-US" dirty="0"/>
              <a:t>约车</a:t>
            </a:r>
            <a:r>
              <a:rPr lang="en-US" altLang="zh-CN" dirty="0"/>
              <a:t>)</a:t>
            </a:r>
            <a:r>
              <a:rPr lang="zh-CN" altLang="en-US" dirty="0"/>
              <a:t>；注意，</a:t>
            </a:r>
            <a:r>
              <a:rPr lang="zh-CN" altLang="en-US" dirty="0">
                <a:solidFill>
                  <a:srgbClr val="FF0000"/>
                </a:solidFill>
              </a:rPr>
              <a:t>满足地图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打车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：大型在线考试平台；注意，</a:t>
            </a:r>
            <a:r>
              <a:rPr lang="zh-CN" altLang="en-US" dirty="0">
                <a:solidFill>
                  <a:srgbClr val="FF0000"/>
                </a:solidFill>
              </a:rPr>
              <a:t>满足多人考试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阅卷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成绩公布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296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分组办法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自由分组，不限班级</a:t>
            </a:r>
            <a:endParaRPr lang="en-US" altLang="zh-CN" dirty="0"/>
          </a:p>
          <a:p>
            <a:r>
              <a:rPr lang="zh-CN" altLang="en-US" dirty="0"/>
              <a:t>组员数目 </a:t>
            </a:r>
            <a:r>
              <a:rPr lang="en-US" altLang="zh-CN" dirty="0"/>
              <a:t>4-8</a:t>
            </a:r>
            <a:r>
              <a:rPr lang="zh-CN" altLang="en-US" dirty="0"/>
              <a:t>人</a:t>
            </a:r>
            <a:endParaRPr lang="en-US" altLang="zh-CN" dirty="0"/>
          </a:p>
          <a:p>
            <a:r>
              <a:rPr lang="zh-CN" altLang="en-US" dirty="0"/>
              <a:t>不接受多于</a:t>
            </a:r>
            <a:r>
              <a:rPr lang="en-US" altLang="zh-CN" dirty="0"/>
              <a:t>8</a:t>
            </a:r>
            <a:r>
              <a:rPr lang="zh-CN" altLang="en-US" dirty="0"/>
              <a:t>个的大作业</a:t>
            </a:r>
            <a:endParaRPr lang="en-US" altLang="zh-CN" dirty="0"/>
          </a:p>
          <a:p>
            <a:r>
              <a:rPr lang="zh-CN" altLang="en-US" dirty="0"/>
              <a:t>不接受少于</a:t>
            </a:r>
            <a:r>
              <a:rPr lang="en-US" altLang="zh-CN" dirty="0"/>
              <a:t>4</a:t>
            </a:r>
            <a:r>
              <a:rPr lang="zh-CN" altLang="en-US" dirty="0"/>
              <a:t>人的大作业</a:t>
            </a:r>
            <a:endParaRPr lang="en-US" altLang="zh-CN" dirty="0"/>
          </a:p>
          <a:p>
            <a:r>
              <a:rPr lang="zh-CN" altLang="en-US" dirty="0"/>
              <a:t>重修，降级等需要单独提交事先和我联系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503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需求明确</a:t>
            </a:r>
            <a:r>
              <a:rPr lang="zh-CN" altLang="en-US" dirty="0"/>
              <a:t>：清晰定义分布式系统的技术需求；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设计完整</a:t>
            </a:r>
            <a:r>
              <a:rPr lang="zh-CN" altLang="en-US" dirty="0"/>
              <a:t>：涵盖所有所学知识点；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设计正确</a:t>
            </a:r>
            <a:r>
              <a:rPr lang="zh-CN" altLang="en-US" dirty="0"/>
              <a:t>：可以完成既定技术需求；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自主知识运用</a:t>
            </a:r>
            <a:r>
              <a:rPr lang="zh-CN" altLang="en-US" dirty="0"/>
              <a:t>：是自己想的还是查阅资料获得的；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选题新颖</a:t>
            </a:r>
            <a:r>
              <a:rPr lang="zh-CN" altLang="en-US" dirty="0"/>
              <a:t>：常规的教科书均可见的分布式系统还是较为新颖的分布式系统；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格式良好</a:t>
            </a:r>
            <a:r>
              <a:rPr lang="zh-CN" altLang="en-US" dirty="0"/>
              <a:t>：图文并茂，排版格式一致，简洁清新。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注意：我给出的目录是参考，可以自己修改。</a:t>
            </a:r>
          </a:p>
        </p:txBody>
      </p:sp>
    </p:spTree>
    <p:extLst>
      <p:ext uri="{BB962C8B-B14F-4D97-AF65-F5344CB8AC3E}">
        <p14:creationId xmlns:p14="http://schemas.microsoft.com/office/powerpoint/2010/main" val="370375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评分办法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000" y="1371600"/>
            <a:ext cx="8610600" cy="5148072"/>
          </a:xfrm>
        </p:spPr>
        <p:txBody>
          <a:bodyPr/>
          <a:lstStyle/>
          <a:p>
            <a:r>
              <a:rPr lang="zh-CN" altLang="en-US" dirty="0"/>
              <a:t>所有组得分在</a:t>
            </a:r>
            <a:r>
              <a:rPr lang="en-US" altLang="zh-CN" dirty="0"/>
              <a:t>75</a:t>
            </a:r>
            <a:r>
              <a:rPr lang="zh-CN" altLang="en-US" dirty="0"/>
              <a:t>至</a:t>
            </a:r>
            <a:r>
              <a:rPr lang="en-US" altLang="zh-CN" dirty="0"/>
              <a:t>100</a:t>
            </a:r>
            <a:r>
              <a:rPr lang="zh-CN" altLang="en-US" dirty="0"/>
              <a:t>之间</a:t>
            </a:r>
            <a:endParaRPr lang="en-US" altLang="zh-CN" dirty="0"/>
          </a:p>
          <a:p>
            <a:r>
              <a:rPr lang="zh-CN" altLang="en-US" dirty="0"/>
              <a:t>每个组按贡献率分配分数</a:t>
            </a:r>
            <a:endParaRPr lang="en-US" altLang="zh-CN" dirty="0"/>
          </a:p>
          <a:p>
            <a:r>
              <a:rPr lang="zh-CN" altLang="en-US" dirty="0"/>
              <a:t>每组：</a:t>
            </a:r>
            <a:endParaRPr lang="en-US" altLang="zh-CN" dirty="0"/>
          </a:p>
          <a:p>
            <a:pPr lvl="1"/>
            <a:r>
              <a:rPr lang="zh-CN" altLang="en-US" dirty="0"/>
              <a:t>有且仅有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zh-CN" altLang="en-US" dirty="0">
                <a:solidFill>
                  <a:srgbClr val="FF0000"/>
                </a:solidFill>
              </a:rPr>
              <a:t>组长</a:t>
            </a:r>
            <a:r>
              <a:rPr lang="en-US" altLang="zh-CN" dirty="0"/>
              <a:t>(100%)</a:t>
            </a:r>
          </a:p>
          <a:p>
            <a:pPr lvl="1"/>
            <a:r>
              <a:rPr lang="zh-CN" altLang="en-US" dirty="0"/>
              <a:t>不多于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zh-CN" altLang="en-US" dirty="0">
                <a:solidFill>
                  <a:srgbClr val="FF0000"/>
                </a:solidFill>
              </a:rPr>
              <a:t>副组长</a:t>
            </a:r>
            <a:r>
              <a:rPr lang="en-US" altLang="zh-CN" dirty="0"/>
              <a:t>(98%) </a:t>
            </a:r>
          </a:p>
          <a:p>
            <a:pPr lvl="1"/>
            <a:r>
              <a:rPr lang="zh-CN" altLang="en-US" dirty="0"/>
              <a:t>不多于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zh-CN" altLang="en-US" dirty="0">
                <a:solidFill>
                  <a:srgbClr val="FF0000"/>
                </a:solidFill>
              </a:rPr>
              <a:t>组员</a:t>
            </a:r>
            <a:r>
              <a:rPr lang="en-US" altLang="zh-CN" dirty="0"/>
              <a:t>(80%)</a:t>
            </a:r>
          </a:p>
          <a:p>
            <a:r>
              <a:rPr lang="zh-CN" altLang="en-US" dirty="0"/>
              <a:t>同一个学生在多个组，该同学按最低分</a:t>
            </a:r>
            <a:r>
              <a:rPr lang="en-US" altLang="zh-CN" dirty="0"/>
              <a:t>(80%)</a:t>
            </a:r>
            <a:r>
              <a:rPr lang="zh-CN" altLang="en-US" dirty="0"/>
              <a:t>计算。</a:t>
            </a:r>
            <a:endParaRPr lang="en-US" altLang="zh-CN" dirty="0"/>
          </a:p>
          <a:p>
            <a:r>
              <a:rPr lang="zh-CN" altLang="en-US" dirty="0"/>
              <a:t>保持原创，禁止抄袭往届学生，我会对比。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932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85800" y="3865972"/>
            <a:ext cx="3048000" cy="2574036"/>
          </a:xfrm>
        </p:spPr>
        <p:txBody>
          <a:bodyPr/>
          <a:lstStyle/>
          <a:p>
            <a:r>
              <a:rPr lang="zh-CN" altLang="en-US" dirty="0"/>
              <a:t>某组得分</a:t>
            </a:r>
            <a:r>
              <a:rPr lang="en-US" altLang="zh-CN" dirty="0"/>
              <a:t>75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组长：</a:t>
            </a:r>
            <a:r>
              <a:rPr lang="en-US" altLang="zh-CN" dirty="0"/>
              <a:t>73.5</a:t>
            </a:r>
          </a:p>
          <a:p>
            <a:pPr lvl="1"/>
            <a:r>
              <a:rPr lang="zh-CN" altLang="en-US" dirty="0"/>
              <a:t>副组长：</a:t>
            </a:r>
            <a:r>
              <a:rPr lang="en-US" altLang="zh-CN" dirty="0"/>
              <a:t>75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组员：</a:t>
            </a:r>
            <a:r>
              <a:rPr lang="en-US" altLang="zh-CN" dirty="0">
                <a:solidFill>
                  <a:srgbClr val="FF0000"/>
                </a:solidFill>
              </a:rPr>
              <a:t>60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724400" y="1143000"/>
            <a:ext cx="3048000" cy="2574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某组得分</a:t>
            </a:r>
            <a:r>
              <a:rPr lang="en-US" altLang="zh-CN" dirty="0"/>
              <a:t>80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组长：</a:t>
            </a:r>
            <a:r>
              <a:rPr lang="en-US" altLang="zh-CN" dirty="0"/>
              <a:t>80</a:t>
            </a:r>
          </a:p>
          <a:p>
            <a:pPr lvl="1"/>
            <a:r>
              <a:rPr lang="zh-CN" altLang="en-US" dirty="0"/>
              <a:t>副组长：</a:t>
            </a:r>
            <a:r>
              <a:rPr lang="en-US" altLang="zh-CN" dirty="0"/>
              <a:t>78</a:t>
            </a:r>
          </a:p>
          <a:p>
            <a:pPr lvl="1"/>
            <a:r>
              <a:rPr lang="zh-CN" altLang="en-US" dirty="0"/>
              <a:t>组员：</a:t>
            </a:r>
            <a:r>
              <a:rPr lang="en-US" altLang="zh-CN" dirty="0"/>
              <a:t>64</a:t>
            </a:r>
          </a:p>
          <a:p>
            <a:endParaRPr lang="zh-CN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85800" y="1143000"/>
            <a:ext cx="3048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某组得分</a:t>
            </a:r>
            <a:r>
              <a:rPr lang="en-US" altLang="zh-CN" dirty="0"/>
              <a:t>90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>
              <a:buClr>
                <a:schemeClr val="tx2"/>
              </a:buClr>
            </a:pPr>
            <a:r>
              <a:rPr lang="zh-CN" altLang="en-US" dirty="0"/>
              <a:t>组长：</a:t>
            </a:r>
            <a:r>
              <a:rPr lang="en-US" altLang="zh-CN" dirty="0"/>
              <a:t>90</a:t>
            </a:r>
          </a:p>
          <a:p>
            <a:pPr lvl="1">
              <a:buClr>
                <a:schemeClr val="tx2"/>
              </a:buClr>
            </a:pPr>
            <a:r>
              <a:rPr lang="zh-CN" altLang="en-US" dirty="0"/>
              <a:t>副组长：</a:t>
            </a:r>
            <a:r>
              <a:rPr lang="en-US" altLang="zh-CN" dirty="0"/>
              <a:t> 88</a:t>
            </a:r>
          </a:p>
          <a:p>
            <a:pPr lvl="1">
              <a:buClr>
                <a:schemeClr val="tx2"/>
              </a:buClr>
            </a:pPr>
            <a:r>
              <a:rPr lang="zh-CN" altLang="en-US" dirty="0"/>
              <a:t>组员：</a:t>
            </a:r>
            <a:r>
              <a:rPr lang="en-US" altLang="zh-CN" dirty="0"/>
              <a:t>72</a:t>
            </a:r>
          </a:p>
          <a:p>
            <a:endParaRPr lang="zh-CN" alt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865972"/>
            <a:ext cx="3048000" cy="2574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附录必填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" y="2590800"/>
            <a:ext cx="9057143" cy="1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4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截止时间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电子版发送到</a:t>
            </a:r>
            <a:r>
              <a:rPr lang="en-US" altLang="zh-CN" dirty="0">
                <a:solidFill>
                  <a:srgbClr val="FF0000"/>
                </a:solidFill>
              </a:rPr>
              <a:t>sy_songjie@163.com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邮件名称  </a:t>
            </a:r>
            <a:r>
              <a:rPr lang="en-US" altLang="zh-CN" dirty="0">
                <a:solidFill>
                  <a:srgbClr val="FF0000"/>
                </a:solidFill>
              </a:rPr>
              <a:t>A_</a:t>
            </a:r>
            <a:r>
              <a:rPr lang="zh-CN" altLang="en-US" dirty="0">
                <a:solidFill>
                  <a:srgbClr val="FF0000"/>
                </a:solidFill>
              </a:rPr>
              <a:t>组名 或 </a:t>
            </a:r>
            <a:r>
              <a:rPr lang="en-US" altLang="zh-CN" dirty="0">
                <a:solidFill>
                  <a:srgbClr val="FF0000"/>
                </a:solidFill>
              </a:rPr>
              <a:t>B _</a:t>
            </a:r>
            <a:r>
              <a:rPr lang="zh-CN" altLang="en-US" dirty="0">
                <a:solidFill>
                  <a:srgbClr val="FF0000"/>
                </a:solidFill>
              </a:rPr>
              <a:t>组名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11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23</a:t>
            </a:r>
            <a:r>
              <a:rPr lang="zh-CN" altLang="en-US" dirty="0">
                <a:solidFill>
                  <a:srgbClr val="FF0000"/>
                </a:solidFill>
              </a:rPr>
              <a:t>日</a:t>
            </a:r>
            <a:r>
              <a:rPr lang="en-US" altLang="zh-CN" dirty="0">
                <a:solidFill>
                  <a:srgbClr val="FF0000"/>
                </a:solidFill>
              </a:rPr>
              <a:t>24:00 </a:t>
            </a:r>
            <a:r>
              <a:rPr lang="zh-CN" altLang="en-US" dirty="0">
                <a:solidFill>
                  <a:srgbClr val="FF0000"/>
                </a:solidFill>
              </a:rPr>
              <a:t>时之前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只收一次，以第一个附件为准，以后不许替换。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75149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</TotalTime>
  <Words>610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Unicode MS</vt:lpstr>
      <vt:lpstr>Arial</vt:lpstr>
      <vt:lpstr>Calibri</vt:lpstr>
      <vt:lpstr>Custom Design</vt:lpstr>
      <vt:lpstr>分布式系统导论 大作业要求</vt:lpstr>
      <vt:lpstr>大作业要求</vt:lpstr>
      <vt:lpstr>分组办法</vt:lpstr>
      <vt:lpstr>评分点</vt:lpstr>
      <vt:lpstr>评分办法</vt:lpstr>
      <vt:lpstr>举例</vt:lpstr>
      <vt:lpstr>附录必填</vt:lpstr>
      <vt:lpstr>截止时间</vt:lpstr>
    </vt:vector>
  </TitlesOfParts>
  <Company>Northeastern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</dc:title>
  <dc:creator>Song Jie</dc:creator>
  <cp:lastModifiedBy>Jie</cp:lastModifiedBy>
  <cp:revision>131</cp:revision>
  <dcterms:created xsi:type="dcterms:W3CDTF">2014-12-25T06:15:21Z</dcterms:created>
  <dcterms:modified xsi:type="dcterms:W3CDTF">2025-10-23T00:48:14Z</dcterms:modified>
</cp:coreProperties>
</file>